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Tree>
    <p:extLst>
      <p:ext uri="{BB962C8B-B14F-4D97-AF65-F5344CB8AC3E}">
        <p14:creationId xmlns:p14="http://schemas.microsoft.com/office/powerpoint/2010/main" val="163442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0023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21C4A8A3-D182-44AE-A330-D4ACB0CB4E15}" type="slidenum">
              <a:rPr lang="en-IN" smtClean="0"/>
              <a:t>‹#›</a:t>
            </a:fld>
            <a:endParaRPr lang="en-IN"/>
          </a:p>
        </p:txBody>
      </p:sp>
    </p:spTree>
    <p:extLst>
      <p:ext uri="{BB962C8B-B14F-4D97-AF65-F5344CB8AC3E}">
        <p14:creationId xmlns:p14="http://schemas.microsoft.com/office/powerpoint/2010/main" val="3591412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21C4A8A3-D182-44AE-A330-D4ACB0CB4E15}" type="slidenum">
              <a:rPr lang="en-IN" smtClean="0"/>
              <a:t>‹#›</a:t>
            </a:fld>
            <a:endParaRPr lang="en-IN"/>
          </a:p>
        </p:txBody>
      </p:sp>
    </p:spTree>
    <p:extLst>
      <p:ext uri="{BB962C8B-B14F-4D97-AF65-F5344CB8AC3E}">
        <p14:creationId xmlns:p14="http://schemas.microsoft.com/office/powerpoint/2010/main" val="398232525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21C4A8A3-D182-44AE-A330-D4ACB0CB4E15}" type="slidenum">
              <a:rPr lang="en-IN" smtClean="0"/>
              <a:t>‹#›</a:t>
            </a:fld>
            <a:endParaRPr lang="en-IN"/>
          </a:p>
        </p:txBody>
      </p:sp>
    </p:spTree>
    <p:extLst>
      <p:ext uri="{BB962C8B-B14F-4D97-AF65-F5344CB8AC3E}">
        <p14:creationId xmlns:p14="http://schemas.microsoft.com/office/powerpoint/2010/main" val="350963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13287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21C4A8A3-D182-44AE-A330-D4ACB0CB4E15}"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4217522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21C4A8A3-D182-44AE-A330-D4ACB0CB4E15}"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2950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4873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31969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355929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IN"/>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8618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21C4A8A3-D182-44AE-A330-D4ACB0CB4E15}" type="slidenum">
              <a:rPr lang="en-IN" smtClean="0"/>
              <a:t>‹#›</a:t>
            </a:fld>
            <a:endParaRPr lang="en-IN"/>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53226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97204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7070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525262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116821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21C4A8A3-D182-44AE-A330-D4ACB0CB4E15}" type="slidenum">
              <a:rPr lang="en-IN" smtClean="0"/>
              <a:t>‹#›</a:t>
            </a:fld>
            <a:endParaRPr lang="en-IN"/>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01198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38024521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52972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21470997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6047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4771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Tree>
    <p:extLst>
      <p:ext uri="{BB962C8B-B14F-4D97-AF65-F5344CB8AC3E}">
        <p14:creationId xmlns:p14="http://schemas.microsoft.com/office/powerpoint/2010/main" val="1536032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Tree>
    <p:extLst>
      <p:ext uri="{BB962C8B-B14F-4D97-AF65-F5344CB8AC3E}">
        <p14:creationId xmlns:p14="http://schemas.microsoft.com/office/powerpoint/2010/main" val="26103290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61219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1C4A8A3-D182-44AE-A330-D4ACB0CB4E15}" type="slidenum">
              <a:rPr lang="en-IN" smtClean="0"/>
              <a:t>‹#›</a:t>
            </a:fld>
            <a:endParaRPr lang="en-IN"/>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587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8252FFA3-8F37-4671-BFA7-8F0C64FD89B1}" type="datetimeFigureOut">
              <a:rPr lang="en-IN" smtClean="0"/>
              <a:t>30-07-2026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21C4A8A3-D182-44AE-A330-D4ACB0CB4E15}" type="slidenum">
              <a:rPr lang="en-IN" smtClean="0"/>
              <a:t>‹#›</a:t>
            </a:fld>
            <a:endParaRPr lang="en-IN"/>
          </a:p>
        </p:txBody>
      </p:sp>
    </p:spTree>
    <p:extLst>
      <p:ext uri="{BB962C8B-B14F-4D97-AF65-F5344CB8AC3E}">
        <p14:creationId xmlns:p14="http://schemas.microsoft.com/office/powerpoint/2010/main" val="38433208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E242C-E990-5580-F4FA-93186C87F19F}"/>
              </a:ext>
            </a:extLst>
          </p:cNvPr>
          <p:cNvSpPr>
            <a:spLocks noGrp="1"/>
          </p:cNvSpPr>
          <p:nvPr>
            <p:ph type="ctrTitle"/>
          </p:nvPr>
        </p:nvSpPr>
        <p:spPr>
          <a:xfrm>
            <a:off x="6295259" y="1120878"/>
            <a:ext cx="4800600" cy="2526890"/>
          </a:xfrm>
        </p:spPr>
        <p:txBody>
          <a:bodyPr/>
          <a:lstStyle/>
          <a:p>
            <a:r>
              <a:rPr lang="en-IN" b="1" dirty="0">
                <a:latin typeface="Times New Roman" panose="02020603050405020304" pitchFamily="18" charset="0"/>
                <a:cs typeface="Times New Roman" panose="02020603050405020304" pitchFamily="18" charset="0"/>
              </a:rPr>
              <a:t>EXCEPTION HANDLING</a:t>
            </a:r>
          </a:p>
        </p:txBody>
      </p:sp>
      <p:sp>
        <p:nvSpPr>
          <p:cNvPr id="3" name="Subtitle 2">
            <a:extLst>
              <a:ext uri="{FF2B5EF4-FFF2-40B4-BE49-F238E27FC236}">
                <a16:creationId xmlns:a16="http://schemas.microsoft.com/office/drawing/2014/main" id="{37889F5D-A945-4B4B-D1A4-2E150EE9B067}"/>
              </a:ext>
            </a:extLst>
          </p:cNvPr>
          <p:cNvSpPr>
            <a:spLocks noGrp="1"/>
          </p:cNvSpPr>
          <p:nvPr>
            <p:ph type="subTitle" idx="1"/>
          </p:nvPr>
        </p:nvSpPr>
        <p:spPr>
          <a:xfrm>
            <a:off x="7973960" y="4714821"/>
            <a:ext cx="3008672" cy="1496616"/>
          </a:xfrm>
        </p:spPr>
        <p:txBody>
          <a:bodyPr/>
          <a:lstStyle/>
          <a:p>
            <a:r>
              <a:rPr lang="en-IN" sz="2000" b="1" dirty="0">
                <a:latin typeface="Times New Roman" panose="02020603050405020304" pitchFamily="18" charset="0"/>
                <a:cs typeface="Times New Roman" panose="02020603050405020304" pitchFamily="18" charset="0"/>
              </a:rPr>
              <a:t>Presented by :</a:t>
            </a:r>
          </a:p>
          <a:p>
            <a:r>
              <a:rPr lang="en-IN" sz="2000" b="1" dirty="0">
                <a:latin typeface="Times New Roman" panose="02020603050405020304" pitchFamily="18" charset="0"/>
                <a:cs typeface="Times New Roman" panose="02020603050405020304" pitchFamily="18" charset="0"/>
              </a:rPr>
              <a:t>                      Maivizhi R</a:t>
            </a:r>
          </a:p>
          <a:p>
            <a:endParaRPr lang="en-IN" dirty="0"/>
          </a:p>
        </p:txBody>
      </p:sp>
    </p:spTree>
    <p:extLst>
      <p:ext uri="{BB962C8B-B14F-4D97-AF65-F5344CB8AC3E}">
        <p14:creationId xmlns:p14="http://schemas.microsoft.com/office/powerpoint/2010/main" val="2672089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D688B-D2F0-AF83-4DBB-673589F3B737}"/>
              </a:ext>
            </a:extLst>
          </p:cNvPr>
          <p:cNvSpPr>
            <a:spLocks noGrp="1"/>
          </p:cNvSpPr>
          <p:nvPr>
            <p:ph type="title"/>
          </p:nvPr>
        </p:nvSpPr>
        <p:spPr>
          <a:xfrm>
            <a:off x="420791" y="459253"/>
            <a:ext cx="11161609" cy="5292618"/>
          </a:xfrm>
        </p:spPr>
        <p:txBody>
          <a:bodyPr>
            <a:normAutofit fontScale="90000"/>
          </a:bodyPr>
          <a:lstStyle/>
          <a:p>
            <a:r>
              <a:rPr lang="en-US" sz="3200" b="1" dirty="0">
                <a:latin typeface="Times New Roman" panose="02020603050405020304" pitchFamily="18" charset="0"/>
                <a:cs typeface="Times New Roman" panose="02020603050405020304" pitchFamily="18" charset="0"/>
              </a:rPr>
              <a:t>What is Exception Handling?</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Definition: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Exception handling is one of the most important features of Java. It allows programmers to handle runtime errors gracefully, ensuring that the application continues to run instead of terminating unexpectedly.</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Key Points:</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1. Prevents program crashes.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2. Handles unexpected errors.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3. Improves program reliability.</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4. Makes debugging easier.</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5440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B45A8-B1DB-B6F8-AB0E-92B9E7F4CD1F}"/>
              </a:ext>
            </a:extLst>
          </p:cNvPr>
          <p:cNvSpPr>
            <a:spLocks noGrp="1"/>
          </p:cNvSpPr>
          <p:nvPr>
            <p:ph type="title"/>
          </p:nvPr>
        </p:nvSpPr>
        <p:spPr>
          <a:xfrm>
            <a:off x="420791" y="459253"/>
            <a:ext cx="10876473" cy="5872721"/>
          </a:xfrm>
        </p:spPr>
        <p:txBody>
          <a:bodyPr>
            <a:normAutofit/>
          </a:bodyPr>
          <a:lstStyle/>
          <a:p>
            <a:br>
              <a:rPr lang="en-US" sz="2200" dirty="0"/>
            </a:br>
            <a:br>
              <a:rPr lang="en-US" sz="20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Characteristics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Occurs during runtime.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 Represents an error condition .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 Can be handled using exception handling.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4. Stored as an object in Java.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5. Generated automatically or manually.</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Examples: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Dividing a number by zero.</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 Accessing an invalid array index.</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 Opening a file that does not exist.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4. Entering invalid input.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5. Accessing a null object reference.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499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063CF92-712B-9FD2-1A03-83036F255EF4}"/>
              </a:ext>
            </a:extLst>
          </p:cNvPr>
          <p:cNvSpPr>
            <a:spLocks noGrp="1"/>
          </p:cNvSpPr>
          <p:nvPr>
            <p:ph type="title"/>
          </p:nvPr>
        </p:nvSpPr>
        <p:spPr>
          <a:xfrm>
            <a:off x="420688" y="458788"/>
            <a:ext cx="11653837" cy="5862637"/>
          </a:xfrm>
        </p:spPr>
        <p:txBody>
          <a:bodyPr>
            <a:normAutofit/>
          </a:bodyPr>
          <a:lstStyle/>
          <a:p>
            <a:r>
              <a:rPr lang="en-US" sz="2800" b="1" dirty="0">
                <a:latin typeface="Times New Roman" panose="02020603050405020304" pitchFamily="18" charset="0"/>
                <a:cs typeface="Times New Roman" panose="02020603050405020304" pitchFamily="18" charset="0"/>
              </a:rPr>
              <a:t>Why Do We Need Exception Handling?</a:t>
            </a:r>
            <a:br>
              <a:rPr lang="en-US" sz="2800" b="1"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Importance</a:t>
            </a:r>
            <a:br>
              <a:rPr lang="en-US" sz="2400" b="1"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 </a:t>
            </a:r>
            <a:r>
              <a:rPr lang="en-US" sz="2800" dirty="0">
                <a:latin typeface="Times New Roman" panose="02020603050405020304" pitchFamily="18" charset="0"/>
                <a:cs typeface="Times New Roman" panose="02020603050405020304" pitchFamily="18" charset="0"/>
              </a:rPr>
              <a:t>Prevents application crashes.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2. Allows the program to continue execution.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3. Improves software quality.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4. Makes applications secure.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5. Provides meaningful error messages.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6. Simplifies debugging.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7. Helps maintain clean and readable code.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8. Handles unexpected situations effectively.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9. Improves user experience.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480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8A8BA-9514-406D-F31C-C47029D6D468}"/>
              </a:ext>
            </a:extLst>
          </p:cNvPr>
          <p:cNvSpPr>
            <a:spLocks noGrp="1"/>
          </p:cNvSpPr>
          <p:nvPr>
            <p:ph type="title"/>
          </p:nvPr>
        </p:nvSpPr>
        <p:spPr>
          <a:xfrm>
            <a:off x="78659" y="147485"/>
            <a:ext cx="6459794" cy="6710516"/>
          </a:xfrm>
        </p:spPr>
        <p:txBody>
          <a:bodyPr>
            <a:noAutofit/>
          </a:bodyPr>
          <a:lstStyle/>
          <a:p>
            <a:r>
              <a:rPr lang="en-US" sz="2800" b="1" dirty="0">
                <a:latin typeface="Times New Roman" panose="02020603050405020304" pitchFamily="18" charset="0"/>
                <a:cs typeface="Times New Roman" panose="02020603050405020304" pitchFamily="18" charset="0"/>
              </a:rPr>
              <a:t>Types of Exceptions</a:t>
            </a:r>
            <a:br>
              <a:rPr lang="en-US" sz="28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1. Checked Exceptions</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These are checked by the compiler before the program runs.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Features</a:t>
            </a:r>
            <a:br>
              <a:rPr lang="en-US" sz="2800" b="1"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 Must be handled.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 Occur during compilation.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 Require try-catch or throws.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Examples</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1. </a:t>
            </a:r>
            <a:r>
              <a:rPr lang="en-US" sz="2400" dirty="0" err="1">
                <a:latin typeface="Times New Roman" panose="02020603050405020304" pitchFamily="18" charset="0"/>
                <a:cs typeface="Times New Roman" panose="02020603050405020304" pitchFamily="18" charset="0"/>
              </a:rPr>
              <a:t>IOException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 </a:t>
            </a:r>
            <a:r>
              <a:rPr lang="en-US" sz="2400" dirty="0" err="1">
                <a:latin typeface="Times New Roman" panose="02020603050405020304" pitchFamily="18" charset="0"/>
                <a:cs typeface="Times New Roman" panose="02020603050405020304" pitchFamily="18" charset="0"/>
              </a:rPr>
              <a:t>SQLException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FileNotFoundException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4. </a:t>
            </a:r>
            <a:r>
              <a:rPr lang="en-US" sz="2400" dirty="0" err="1">
                <a:latin typeface="Times New Roman" panose="02020603050405020304" pitchFamily="18" charset="0"/>
                <a:cs typeface="Times New Roman" panose="02020603050405020304" pitchFamily="18" charset="0"/>
              </a:rPr>
              <a:t>ClassNotFoundException</a:t>
            </a:r>
            <a:endParaRPr lang="en-IN"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AEB6C42-6C2D-17CB-6571-369FC0CE4E39}"/>
              </a:ext>
            </a:extLst>
          </p:cNvPr>
          <p:cNvSpPr>
            <a:spLocks noGrp="1"/>
          </p:cNvSpPr>
          <p:nvPr>
            <p:ph type="subTitle" idx="1"/>
          </p:nvPr>
        </p:nvSpPr>
        <p:spPr>
          <a:xfrm>
            <a:off x="6617111" y="147484"/>
            <a:ext cx="5574890" cy="6710516"/>
          </a:xfrm>
        </p:spPr>
        <p:txBody>
          <a:bodyPr>
            <a:normAutofit lnSpcReduction="10000"/>
          </a:bodyPr>
          <a:lstStyle/>
          <a:p>
            <a:r>
              <a:rPr lang="en-US" sz="2800" b="1" dirty="0">
                <a:latin typeface="Times New Roman" panose="02020603050405020304" pitchFamily="18" charset="0"/>
                <a:cs typeface="Times New Roman" panose="02020603050405020304" pitchFamily="18" charset="0"/>
              </a:rPr>
              <a:t>2. Unchecked Exceptions</a:t>
            </a:r>
          </a:p>
          <a:p>
            <a:r>
              <a:rPr lang="en-US" sz="2400" dirty="0">
                <a:latin typeface="Times New Roman" panose="02020603050405020304" pitchFamily="18" charset="0"/>
                <a:cs typeface="Times New Roman" panose="02020603050405020304" pitchFamily="18" charset="0"/>
              </a:rPr>
              <a:t>These occur during runtime.</a:t>
            </a:r>
          </a:p>
          <a:p>
            <a:r>
              <a:rPr lang="en-US" sz="2800" b="1" dirty="0">
                <a:latin typeface="Times New Roman" panose="02020603050405020304" pitchFamily="18" charset="0"/>
                <a:cs typeface="Times New Roman" panose="02020603050405020304" pitchFamily="18" charset="0"/>
              </a:rPr>
              <a:t>Features</a:t>
            </a:r>
          </a:p>
          <a:p>
            <a:r>
              <a:rPr lang="en-US" sz="2400" dirty="0">
                <a:latin typeface="Times New Roman" panose="02020603050405020304" pitchFamily="18" charset="0"/>
                <a:cs typeface="Times New Roman" panose="02020603050405020304" pitchFamily="18" charset="0"/>
              </a:rPr>
              <a:t>1. Not checked by the compiler.</a:t>
            </a:r>
          </a:p>
          <a:p>
            <a:r>
              <a:rPr lang="en-US" sz="2400" dirty="0">
                <a:latin typeface="Times New Roman" panose="02020603050405020304" pitchFamily="18" charset="0"/>
                <a:cs typeface="Times New Roman" panose="02020603050405020304" pitchFamily="18" charset="0"/>
              </a:rPr>
              <a:t>2. Usually caused by programming mistakes.</a:t>
            </a:r>
          </a:p>
          <a:p>
            <a:r>
              <a:rPr lang="en-US" sz="2800" b="1" dirty="0">
                <a:latin typeface="Times New Roman" panose="02020603050405020304" pitchFamily="18" charset="0"/>
                <a:cs typeface="Times New Roman" panose="02020603050405020304" pitchFamily="18" charset="0"/>
              </a:rPr>
              <a:t>Examples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ArithmeticException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2. </a:t>
            </a:r>
            <a:r>
              <a:rPr lang="en-US" sz="2000" dirty="0" err="1">
                <a:latin typeface="Times New Roman" panose="02020603050405020304" pitchFamily="18" charset="0"/>
                <a:cs typeface="Times New Roman" panose="02020603050405020304" pitchFamily="18" charset="0"/>
              </a:rPr>
              <a:t>NullPointerException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ArrayIndexOutOfBoundsException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4. </a:t>
            </a:r>
            <a:r>
              <a:rPr lang="en-US" sz="2000" dirty="0" err="1">
                <a:latin typeface="Times New Roman" panose="02020603050405020304" pitchFamily="18" charset="0"/>
                <a:cs typeface="Times New Roman" panose="02020603050405020304" pitchFamily="18" charset="0"/>
              </a:rPr>
              <a:t>NumberFormatException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5. </a:t>
            </a:r>
            <a:r>
              <a:rPr lang="en-US" sz="2000" dirty="0" err="1">
                <a:latin typeface="Times New Roman" panose="02020603050405020304" pitchFamily="18" charset="0"/>
                <a:cs typeface="Times New Roman" panose="02020603050405020304" pitchFamily="18" charset="0"/>
              </a:rPr>
              <a:t>IllegalArgumentException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465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AC813-E7A9-A3C0-0A96-01807BED9D4B}"/>
              </a:ext>
            </a:extLst>
          </p:cNvPr>
          <p:cNvSpPr>
            <a:spLocks noGrp="1"/>
          </p:cNvSpPr>
          <p:nvPr>
            <p:ph type="title"/>
          </p:nvPr>
        </p:nvSpPr>
        <p:spPr>
          <a:xfrm>
            <a:off x="324467" y="206477"/>
            <a:ext cx="5417572" cy="6223820"/>
          </a:xfrm>
        </p:spPr>
        <p:txBody>
          <a:bodyPr>
            <a:normAutofit fontScale="90000"/>
          </a:bodyPr>
          <a:lstStyle/>
          <a:p>
            <a:r>
              <a:rPr lang="en-IN" sz="2800" b="1" dirty="0">
                <a:latin typeface="Times New Roman" panose="02020603050405020304" pitchFamily="18" charset="0"/>
                <a:cs typeface="Times New Roman" panose="02020603050405020304" pitchFamily="18" charset="0"/>
              </a:rPr>
              <a:t>Exception Handling Keywords :</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Java provides five keywords.</a:t>
            </a: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1.</a:t>
            </a:r>
            <a:r>
              <a:rPr lang="en-IN" sz="2800" b="1" dirty="0">
                <a:latin typeface="Times New Roman" panose="02020603050405020304" pitchFamily="18" charset="0"/>
                <a:cs typeface="Times New Roman" panose="02020603050405020304" pitchFamily="18" charset="0"/>
              </a:rPr>
              <a:t>Try</a:t>
            </a:r>
            <a:br>
              <a:rPr lang="en-IN" sz="2800" b="1"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 1. </a:t>
            </a:r>
            <a:r>
              <a:rPr lang="en-IN" sz="2400" dirty="0">
                <a:latin typeface="Times New Roman" panose="02020603050405020304" pitchFamily="18" charset="0"/>
                <a:cs typeface="Times New Roman" panose="02020603050405020304" pitchFamily="18" charset="0"/>
              </a:rPr>
              <a:t>Contains risky code.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2. Monitors code for exceptions. </a:t>
            </a: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2. </a:t>
            </a:r>
            <a:r>
              <a:rPr lang="en-IN" sz="2800" b="1" dirty="0">
                <a:latin typeface="Times New Roman" panose="02020603050405020304" pitchFamily="18" charset="0"/>
                <a:cs typeface="Times New Roman" panose="02020603050405020304" pitchFamily="18" charset="0"/>
              </a:rPr>
              <a:t>Catch </a:t>
            </a:r>
            <a:br>
              <a:rPr lang="en-IN" sz="2800" b="1"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 1. </a:t>
            </a:r>
            <a:r>
              <a:rPr lang="en-IN" sz="2400" dirty="0">
                <a:latin typeface="Times New Roman" panose="02020603050405020304" pitchFamily="18" charset="0"/>
                <a:cs typeface="Times New Roman" panose="02020603050405020304" pitchFamily="18" charset="0"/>
              </a:rPr>
              <a:t>Handles exceptions.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2. Executes only if an exception occurs.</a:t>
            </a:r>
            <a:br>
              <a:rPr lang="en-IN" sz="24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3. </a:t>
            </a:r>
            <a:r>
              <a:rPr lang="en-IN" sz="2800" b="1" dirty="0">
                <a:latin typeface="Times New Roman" panose="02020603050405020304" pitchFamily="18" charset="0"/>
                <a:cs typeface="Times New Roman" panose="02020603050405020304" pitchFamily="18" charset="0"/>
              </a:rPr>
              <a:t>Finally </a:t>
            </a:r>
            <a:br>
              <a:rPr lang="en-IN" sz="2800" b="1"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   1. </a:t>
            </a:r>
            <a:r>
              <a:rPr lang="en-IN" sz="2400" dirty="0">
                <a:latin typeface="Times New Roman" panose="02020603050405020304" pitchFamily="18" charset="0"/>
                <a:cs typeface="Times New Roman" panose="02020603050405020304" pitchFamily="18" charset="0"/>
              </a:rPr>
              <a:t>Executes whether an exception occurs or not.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2. Used for cleanup operations.</a:t>
            </a:r>
          </a:p>
        </p:txBody>
      </p:sp>
      <p:sp>
        <p:nvSpPr>
          <p:cNvPr id="3" name="Subtitle 2">
            <a:extLst>
              <a:ext uri="{FF2B5EF4-FFF2-40B4-BE49-F238E27FC236}">
                <a16:creationId xmlns:a16="http://schemas.microsoft.com/office/drawing/2014/main" id="{623B5E86-D160-46F9-ACCD-BA37BD37B898}"/>
              </a:ext>
            </a:extLst>
          </p:cNvPr>
          <p:cNvSpPr>
            <a:spLocks noGrp="1"/>
          </p:cNvSpPr>
          <p:nvPr>
            <p:ph type="subTitle" idx="1"/>
          </p:nvPr>
        </p:nvSpPr>
        <p:spPr>
          <a:xfrm>
            <a:off x="6017343" y="285135"/>
            <a:ext cx="5850192" cy="6390967"/>
          </a:xfrm>
        </p:spPr>
        <p:txBody>
          <a:bodyPr/>
          <a:lstStyle/>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4. Throw </a:t>
            </a:r>
          </a:p>
          <a:p>
            <a:r>
              <a:rPr lang="en-US" dirty="0"/>
              <a:t>       </a:t>
            </a:r>
            <a:r>
              <a:rPr lang="en-US" sz="2400" dirty="0">
                <a:latin typeface="Times New Roman" panose="02020603050405020304" pitchFamily="18" charset="0"/>
                <a:cs typeface="Times New Roman" panose="02020603050405020304" pitchFamily="18" charset="0"/>
              </a:rPr>
              <a:t>Used to create and throw an exception  manually .</a:t>
            </a:r>
          </a:p>
          <a:p>
            <a:r>
              <a:rPr lang="en-US" sz="2800" b="1" dirty="0">
                <a:latin typeface="Times New Roman" panose="02020603050405020304" pitchFamily="18" charset="0"/>
                <a:cs typeface="Times New Roman" panose="02020603050405020304" pitchFamily="18" charset="0"/>
              </a:rPr>
              <a:t>5. Throws </a:t>
            </a:r>
          </a:p>
          <a:p>
            <a:r>
              <a:rPr lang="en-US" sz="2400" dirty="0">
                <a:latin typeface="Times New Roman" panose="02020603050405020304" pitchFamily="18" charset="0"/>
                <a:cs typeface="Times New Roman" panose="02020603050405020304" pitchFamily="18" charset="0"/>
              </a:rPr>
              <a:t>  1. Declares exceptions in a method   signature.</a:t>
            </a:r>
          </a:p>
          <a:p>
            <a:r>
              <a:rPr lang="en-US" sz="2400" dirty="0">
                <a:latin typeface="Times New Roman" panose="02020603050405020304" pitchFamily="18" charset="0"/>
                <a:cs typeface="Times New Roman" panose="02020603050405020304" pitchFamily="18" charset="0"/>
              </a:rPr>
              <a:t>   2. Passes exception handling responsibility        to the caller.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6032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62C0B-5FD6-90FD-EDF6-736AFF172B9E}"/>
              </a:ext>
            </a:extLst>
          </p:cNvPr>
          <p:cNvSpPr>
            <a:spLocks noGrp="1"/>
          </p:cNvSpPr>
          <p:nvPr>
            <p:ph type="title"/>
          </p:nvPr>
        </p:nvSpPr>
        <p:spPr>
          <a:xfrm>
            <a:off x="420792" y="459253"/>
            <a:ext cx="5658468" cy="6266012"/>
          </a:xfrm>
        </p:spPr>
        <p:txBody>
          <a:bodyPr>
            <a:noAutofit/>
          </a:bodyPr>
          <a:lstStyle/>
          <a:p>
            <a:r>
              <a:rPr lang="en-IN" sz="2800" b="1" dirty="0">
                <a:latin typeface="Times New Roman" panose="02020603050405020304" pitchFamily="18" charset="0"/>
                <a:cs typeface="Times New Roman" panose="02020603050405020304" pitchFamily="18" charset="0"/>
              </a:rPr>
              <a:t>Try Example :</a:t>
            </a:r>
            <a:br>
              <a:rPr lang="en-IN" sz="2800" dirty="0">
                <a:latin typeface="Times New Roman" panose="02020603050405020304" pitchFamily="18" charset="0"/>
                <a:cs typeface="Times New Roman" panose="02020603050405020304" pitchFamily="18" charset="0"/>
              </a:rPr>
            </a:b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public class Demo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public static void main(String </a:t>
            </a:r>
            <a:r>
              <a:rPr lang="en-IN" sz="2800" dirty="0" err="1">
                <a:latin typeface="Times New Roman" panose="02020603050405020304" pitchFamily="18" charset="0"/>
                <a:cs typeface="Times New Roman" panose="02020603050405020304" pitchFamily="18" charset="0"/>
              </a:rPr>
              <a:t>args</a:t>
            </a:r>
            <a:r>
              <a:rPr lang="en-IN" sz="2800" dirty="0">
                <a:latin typeface="Times New Roman" panose="02020603050405020304" pitchFamily="18" charset="0"/>
                <a:cs typeface="Times New Roman" panose="02020603050405020304" pitchFamily="18" charset="0"/>
              </a:rPr>
              <a:t>[])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try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int result = 10 / 0;</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catch (</a:t>
            </a:r>
            <a:r>
              <a:rPr lang="en-IN" sz="2800" dirty="0" err="1">
                <a:latin typeface="Times New Roman" panose="02020603050405020304" pitchFamily="18" charset="0"/>
                <a:cs typeface="Times New Roman" panose="02020603050405020304" pitchFamily="18" charset="0"/>
              </a:rPr>
              <a:t>ArithmeticException</a:t>
            </a:r>
            <a:r>
              <a:rPr lang="en-IN" sz="2800" dirty="0">
                <a:latin typeface="Times New Roman" panose="02020603050405020304" pitchFamily="18" charset="0"/>
                <a:cs typeface="Times New Roman" panose="02020603050405020304" pitchFamily="18" charset="0"/>
              </a:rPr>
              <a:t> e)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System.out.println</a:t>
            </a:r>
            <a:r>
              <a:rPr lang="en-IN" sz="2800" dirty="0">
                <a:latin typeface="Times New Roman" panose="02020603050405020304" pitchFamily="18" charset="0"/>
                <a:cs typeface="Times New Roman" panose="02020603050405020304" pitchFamily="18" charset="0"/>
              </a:rPr>
              <a:t>("Cannot divide by zero.");</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t>
            </a:r>
            <a:br>
              <a:rPr lang="en-IN" sz="2800" dirty="0">
                <a:latin typeface="Times New Roman" panose="02020603050405020304" pitchFamily="18" charset="0"/>
                <a:cs typeface="Times New Roman" panose="02020603050405020304" pitchFamily="18" charset="0"/>
              </a:rPr>
            </a:b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Output: </a:t>
            </a:r>
            <a:r>
              <a:rPr lang="en-IN" sz="2400" dirty="0">
                <a:latin typeface="Times New Roman" panose="02020603050405020304" pitchFamily="18" charset="0"/>
                <a:cs typeface="Times New Roman" panose="02020603050405020304" pitchFamily="18" charset="0"/>
              </a:rPr>
              <a:t>Cannot divide by zero.</a:t>
            </a:r>
          </a:p>
        </p:txBody>
      </p:sp>
      <p:sp>
        <p:nvSpPr>
          <p:cNvPr id="3" name="Subtitle 2">
            <a:extLst>
              <a:ext uri="{FF2B5EF4-FFF2-40B4-BE49-F238E27FC236}">
                <a16:creationId xmlns:a16="http://schemas.microsoft.com/office/drawing/2014/main" id="{2AAE69FA-6780-477C-BE0C-B278EDC16084}"/>
              </a:ext>
            </a:extLst>
          </p:cNvPr>
          <p:cNvSpPr>
            <a:spLocks noGrp="1"/>
          </p:cNvSpPr>
          <p:nvPr>
            <p:ph type="subTitle" idx="1"/>
          </p:nvPr>
        </p:nvSpPr>
        <p:spPr>
          <a:xfrm>
            <a:off x="7362263" y="516599"/>
            <a:ext cx="4485607" cy="5933361"/>
          </a:xfrm>
        </p:spPr>
        <p:txBody>
          <a:bodyPr>
            <a:normAutofit/>
          </a:bodyPr>
          <a:lstStyle/>
          <a:p>
            <a:r>
              <a:rPr lang="en-IN" sz="2800" b="1" dirty="0">
                <a:latin typeface="Times New Roman" panose="02020603050405020304" pitchFamily="18" charset="0"/>
                <a:cs typeface="Times New Roman" panose="02020603050405020304" pitchFamily="18" charset="0"/>
              </a:rPr>
              <a:t>Finally Example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try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System.out.println</a:t>
            </a:r>
            <a:r>
              <a:rPr lang="en-IN" sz="2400" dirty="0">
                <a:latin typeface="Times New Roman" panose="02020603050405020304" pitchFamily="18" charset="0"/>
                <a:cs typeface="Times New Roman" panose="02020603050405020304" pitchFamily="18" charset="0"/>
              </a:rPr>
              <a:t>("Inside try");</a:t>
            </a:r>
          </a:p>
          <a:p>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finally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System.out.println</a:t>
            </a:r>
            <a:r>
              <a:rPr lang="en-IN" sz="2400" dirty="0">
                <a:latin typeface="Times New Roman" panose="02020603050405020304" pitchFamily="18" charset="0"/>
                <a:cs typeface="Times New Roman" panose="02020603050405020304" pitchFamily="18" charset="0"/>
              </a:rPr>
              <a:t>("Finally executed");</a:t>
            </a:r>
          </a:p>
          <a:p>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05695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D2FD-5BE1-CE84-F187-30313F8FB2B7}"/>
              </a:ext>
            </a:extLst>
          </p:cNvPr>
          <p:cNvSpPr>
            <a:spLocks noGrp="1"/>
          </p:cNvSpPr>
          <p:nvPr>
            <p:ph type="title"/>
          </p:nvPr>
        </p:nvSpPr>
        <p:spPr>
          <a:xfrm>
            <a:off x="420792" y="459253"/>
            <a:ext cx="11456576" cy="5833392"/>
          </a:xfrm>
        </p:spPr>
        <p:txBody>
          <a:bodyPr>
            <a:normAutofit/>
          </a:bodyPr>
          <a:lstStyle/>
          <a:p>
            <a:r>
              <a:rPr lang="en-US" sz="2800" b="1" dirty="0">
                <a:latin typeface="Times New Roman" panose="02020603050405020304" pitchFamily="18" charset="0"/>
                <a:cs typeface="Times New Roman" panose="02020603050405020304" pitchFamily="18" charset="0"/>
              </a:rPr>
              <a:t>Real-Life Applications :</a:t>
            </a:r>
            <a:br>
              <a:rPr lang="en-US" sz="2800" b="1"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1. ATM transactions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2. Online banking systems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3. E-commerce websites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4. Hospital management systems </a:t>
            </a:r>
            <a:r>
              <a:rPr lang="en-US" sz="2400" dirty="0" err="1">
                <a:latin typeface="Times New Roman" panose="02020603050405020304" pitchFamily="18" charset="0"/>
                <a:cs typeface="Times New Roman" panose="02020603050405020304" pitchFamily="18" charset="0"/>
              </a:rPr>
              <a:t>ect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Example: </a:t>
            </a: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an ATM, if a user enters an incorrect PIN, the system displays an error message and allows another attempt instead of stopping the application.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847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3D5E9-C884-1D18-AF98-C551AB2DAFD6}"/>
              </a:ext>
            </a:extLst>
          </p:cNvPr>
          <p:cNvSpPr>
            <a:spLocks noGrp="1"/>
          </p:cNvSpPr>
          <p:nvPr>
            <p:ph type="title"/>
          </p:nvPr>
        </p:nvSpPr>
        <p:spPr>
          <a:xfrm>
            <a:off x="420791" y="459253"/>
            <a:ext cx="11407415" cy="5872721"/>
          </a:xfrm>
        </p:spPr>
        <p:txBody>
          <a:bodyPr>
            <a:normAutofit/>
          </a:bodyPr>
          <a:lstStyle/>
          <a:p>
            <a:r>
              <a:rPr lang="en-US" sz="2800" b="1" dirty="0">
                <a:latin typeface="Times New Roman" panose="02020603050405020304" pitchFamily="18" charset="0"/>
                <a:cs typeface="Times New Roman" panose="02020603050405020304" pitchFamily="18" charset="0"/>
              </a:rPr>
              <a:t>Conclusion </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 Exception handling is a powerful feature in Java for managing runtime errors.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 It ensures that programs continue running even when unexpected problems occur.</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 Using try, catch, finally, throw, and throws improves code quality and reliability.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4. Proper exception handling makes applications more secure, maintainable, and user-friendly.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5. Every Java developer should use exception handling to build robust and efficient applications.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1315671"/>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docProps/app.xml><?xml version="1.0" encoding="utf-8"?>
<Properties xmlns="http://schemas.openxmlformats.org/officeDocument/2006/extended-properties" xmlns:vt="http://schemas.openxmlformats.org/officeDocument/2006/docPropsVTypes">
  <Template>Film Burn</Template>
  <TotalTime>56</TotalTime>
  <Words>766</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Neue Haas Grotesk Text Pro</vt:lpstr>
      <vt:lpstr>Times New Roman</vt:lpstr>
      <vt:lpstr>Film Burn</vt:lpstr>
      <vt:lpstr>EXCEPTION HANDLING</vt:lpstr>
      <vt:lpstr>What is Exception Handling?  Definition:                     Exception handling is one of the most important features of Java. It allows programmers to handle runtime errors gracefully, ensuring that the application continues to run instead of terminating unexpectedly.  Key Points:                    1. Prevents program crashes.                   2. Handles unexpected errors.                   3. Improves program reliability.                   4. Makes debugging easier. </vt:lpstr>
      <vt:lpstr>  Characteristics :  1. Occurs during runtime.  2. Represents an error condition .  3. Can be handled using exception handling. 4. Stored as an object in Java. 5. Generated automatically or manually.  Examples:  1. Dividing a number by zero. 2. Accessing an invalid array index. 3. Opening a file that does not exist. 4. Entering invalid input. 5. Accessing a null object reference.</vt:lpstr>
      <vt:lpstr>Why Do We Need Exception Handling?  Importance  1. Prevents application crashes. 2. Allows the program to continue execution. 3. Improves software quality. 4. Makes applications secure. 5. Provides meaningful error messages. 6. Simplifies debugging. 7. Helps maintain clean and readable code. 8. Handles unexpected situations effectively. 9. Improves user experience.</vt:lpstr>
      <vt:lpstr>Types of Exceptions  1. Checked Exceptions  These are checked by the compiler before the program runs.  Features  1. Must be handled. 2. Occur during compilation. 3. Require try-catch or throws.  Examples  1. IOException 2. SQLException 3. FileNotFoundException 4. ClassNotFoundException</vt:lpstr>
      <vt:lpstr>Exception Handling Keywords :            *Java provides five keywords.  1.Try   1. Contains risky code.   2. Monitors code for exceptions.   2. Catch    1. Handles exceptions.    2. Executes only if an exception occurs.  3. Finally      1. Executes whether an exception occurs or not.       2. Used for cleanup operations.</vt:lpstr>
      <vt:lpstr>Try Example :  public class Demo {     public static void main(String args[]) {         try {             int result = 10 / 0;         }         catch (ArithmeticException e) {             System.out.println("Cannot divide by zero.");         }     } }  Output: Cannot divide by zero.</vt:lpstr>
      <vt:lpstr>Real-Life Applications :                  1. ATM transactions                 2. Online banking systems                 3. E-commerce websites                 4. Hospital management systems ect…,    Example:                    In an ATM, if a user enters an incorrect PIN, the system displays an error message and allows another attempt instead of stopping the application.</vt:lpstr>
      <vt:lpstr>Conclusion        1. Exception handling is a powerful feature in Java for managing runtime errors.      2. It ensures that programs continue running even when unexpected problems occur.      3. Using try, catch, finally, throw, and throws improves code quality and reliability.      4. Proper exception handling makes applications more secure, maintainable, and user-friendly.      5. Every Java developer should use exception handling to build robust and efficient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Maivizhi R</dc:creator>
  <cp:lastModifiedBy>Maivizhi R</cp:lastModifiedBy>
  <cp:revision>1</cp:revision>
  <dcterms:created xsi:type="dcterms:W3CDTF">2026-07-30T02:23:29Z</dcterms:created>
  <dcterms:modified xsi:type="dcterms:W3CDTF">2026-07-30T03:19:37Z</dcterms:modified>
</cp:coreProperties>
</file>